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C5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C5B"/>
                </a:solidFill>
                <a:latin typeface="Arial"/>
              </a:rPr>
              <a:t>Teletrabajadores formales en Colombia (miles)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Teletrabajadores (miles)</c:v>
                </c:pt>
              </c:strCache>
            </c:strRef>
          </c:tx>
          <c:spPr>
            <a:solidFill>
              <a:srgbClr val="0D6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C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2012</c:v>
                  </c:pt>
                  <c:pt idx="1">
                    <c:v>2016</c:v>
                  </c:pt>
                  <c:pt idx="2">
                    <c:v>2018</c:v>
                  </c:pt>
                  <c:pt idx="3">
                    <c:v>2020</c:v>
                  </c:pt>
                  <c:pt idx="4">
                    <c:v>2023*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31.5</c:v>
                </c:pt>
                <c:pt idx="1">
                  <c:v>88</c:v>
                </c:pt>
                <c:pt idx="2">
                  <c:v>122.3</c:v>
                </c:pt>
                <c:pt idx="3">
                  <c:v>209.2</c:v>
                </c:pt>
                <c:pt idx="4">
                  <c:v>252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C5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 (pico pandemia)</c:v>
                </c:pt>
              </c:strCache>
            </c:strRef>
          </c:tx>
          <c:spPr>
            <a:solidFill>
              <a:srgbClr val="0D6E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C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Teletrabajo formal</c:v>
                  </c:pt>
                  <c:pt idx="1">
                    <c:v>Trabajo en casa</c:v>
                  </c:pt>
                  <c:pt idx="2">
                    <c:v>Abandonaron remoto</c:v>
                  </c:pt>
                  <c:pt idx="3">
                    <c:v>Solo presencial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43</c:v>
                </c:pt>
                <c:pt idx="2">
                  <c:v>12</c:v>
                </c:pt>
                <c:pt idx="3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2023–2024 (pospandemia)</c:v>
                </c:pt>
              </c:strCache>
            </c:strRef>
          </c:tx>
          <c:spPr>
            <a:solidFill>
              <a:srgbClr val="E4A1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C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Teletrabajo formal</c:v>
                  </c:pt>
                  <c:pt idx="1">
                    <c:v>Trabajo en casa</c:v>
                  </c:pt>
                  <c:pt idx="2">
                    <c:v>Abandonaron remoto</c:v>
                  </c:pt>
                  <c:pt idx="3">
                    <c:v>Solo presencial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8</c:v>
                </c:pt>
                <c:pt idx="2">
                  <c:v>0</c:v>
                </c:pt>
                <c:pt idx="3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C5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C5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C5B"/>
                </a:solidFill>
                <a:latin typeface="Arial"/>
              </a:rPr>
              <a:t>Empresas por modelo preferido (Cornerstone, 2024)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Preferencia modelo laboral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6E8C"/>
              </a:solidFill>
              <a:effectLst/>
            </c:spPr>
          </c:dPt>
          <c:dPt>
            <c:idx val="1"/>
            <c:bubble3D val="0"/>
            <c:spPr>
              <a:solidFill>
                <a:srgbClr val="1A2C5B"/>
              </a:solidFill>
              <a:effectLst/>
            </c:spPr>
          </c:dPt>
          <c:dPt>
            <c:idx val="2"/>
            <c:bubble3D val="0"/>
            <c:spPr>
              <a:solidFill>
                <a:srgbClr val="E4A11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Híbrido</c:v>
                </c:pt>
                <c:pt idx="1">
                  <c:v>Presencial total</c:v>
                </c:pt>
                <c:pt idx="2">
                  <c:v>Teletrabajo completo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63</c:v>
                </c:pt>
                <c:pt idx="1">
                  <c:v>31</c:v>
                </c:pt>
                <c:pt idx="2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280160"/>
            <a:ext cx="7863840" cy="2651760"/>
          </a:xfrm>
          <a:prstGeom prst="rect">
            <a:avLst/>
          </a:prstGeom>
          <a:solidFill>
            <a:srgbClr val="1E3A6E">
              <a:alpha val="80000"/>
            </a:srgbClr>
          </a:solidFill>
          <a:ln w="19050">
            <a:solidFill>
              <a:srgbClr val="0D6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Modalidades de Trabajo en Colombia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2025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presencial · trabajo en casa · remoto · teletrabajo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Percepciones de trabajadores, empresarios e instituciones públicas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2025  |  Diagnóstico Colombia 2020–2025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6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377440" y="1371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marco normativo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normativo: hitos legislativos 2008 – 2024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4892040"/>
            <a:ext cx="8979408" cy="246888"/>
          </a:xfrm>
          <a:prstGeom prst="rect">
            <a:avLst/>
          </a:prstGeom>
          <a:solidFill>
            <a:srgbClr val="EE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Modalidades de Trabajo en Colombia · 2020–2025  |  Fuentes: MinTIC, DANE, Mintrabajo, ANDI, EY, Impacto TIC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6576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63093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1221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Régimen de Teletrabajo (primera regulación en Colombia)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Decreto 555*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Habilitación emergencia sanitaria – trabajo en casa COVID-19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2088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 el Trabajo en Casa (temporal y ocasional, máx. 6 meses)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2121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 el Trabajo Remoto (100 % virtual, contrato indefinido)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Decreto 555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Reglamenta Ley 2121 – Trabajo Remoto (Mintrabajo)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Decreto 649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Reglamenta Ley 2088 – Trabajo en Casa (sector privado)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2191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Derecho a la Desconexión Laboral (todas las modalidades)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Decreto 1227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Flexibilización del Teletrabajo – modalidad suplementaria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Resolución 2007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Reglamenta Teletrabajo para servidores del Ministerio de Trabajo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6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377440" y="1371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estadística 2020 – 2025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teletrabajo y modalidades no presenciales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4892040"/>
            <a:ext cx="8979408" cy="246888"/>
          </a:xfrm>
          <a:prstGeom prst="rect">
            <a:avLst/>
          </a:prstGeom>
          <a:solidFill>
            <a:srgbClr val="EE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Modalidades de Trabajo en Colombia · 2020–2025  |  Fuentes: MinTIC, DANE, Mintrabajo, ANDI, EY, Impacto TIC</a:t>
            </a:r>
            <a:endParaRPr lang="en-US" sz="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91440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960120"/>
            <a:ext cx="3337560" cy="7498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978408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+565%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720840" y="996696"/>
            <a:ext cx="2057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→ 2023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0" y="1874520"/>
            <a:ext cx="3337560" cy="74980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32120" y="1892808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720840" y="1911096"/>
            <a:ext cx="2057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→ 2020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0" y="2788920"/>
            <a:ext cx="3337560" cy="74980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32120" y="2807208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720840" y="2825496"/>
            <a:ext cx="2057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casa (2020)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0" y="3703320"/>
            <a:ext cx="3337560" cy="74980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32120" y="3721608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720840" y="3739896"/>
            <a:ext cx="2057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Trabajan remoto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(DANE Pulso Social 2023)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4348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Estimado — Impacto TIC 2024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por modalidad 2020 vs. 2023–2024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4892040"/>
            <a:ext cx="8979408" cy="246888"/>
          </a:xfrm>
          <a:prstGeom prst="rect">
            <a:avLst/>
          </a:prstGeom>
          <a:solidFill>
            <a:srgbClr val="EE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Modalidades de Trabajo en Colombia · 2020–2025  |  Fuentes: MinTIC, DANE, Mintrabajo, ANDI, EY, Impacto TIC</a:t>
            </a:r>
            <a:endParaRPr lang="en-US" sz="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914400"/>
          <a:ext cx="85039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6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377440" y="1371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Percepciones: trabajadores, empresarios e instituciones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de los trabajadores colombianos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4892040"/>
            <a:ext cx="8979408" cy="246888"/>
          </a:xfrm>
          <a:prstGeom prst="rect">
            <a:avLst/>
          </a:prstGeom>
          <a:solidFill>
            <a:srgbClr val="EE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Modalidades de Trabajo en Colombia · 2020–2025  |  Fuentes: MinTIC, DANE, Mintrabajo, ANDI, EY, Impacto TIC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201168" cy="11155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03327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87,6 %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" y="143560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empleados quería seguir en modalidad remota (DANE, 2022)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221992"/>
            <a:ext cx="201168" cy="111556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9514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0352" y="26974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prefieren teletrabajo 2–3 días/semana (EY Work Reimagined, 2024)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483864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483864"/>
            <a:ext cx="201168" cy="1115568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55701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" y="395935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valoran positivamente el trabajo híbrido (balance bienestar-costos)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60120"/>
            <a:ext cx="201168" cy="111556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033272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19472" y="143560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identifican híbrido como su modelo preferido (WeWork/Page Group, 2025)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221992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221992"/>
            <a:ext cx="201168" cy="111556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29514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19472" y="26974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expresan interés en ser nómadas digitales (WeWork/Page Group, 2025)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483864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483864"/>
            <a:ext cx="201168" cy="1115568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55701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919472" y="395935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quienes trabajan remoto/híbrido regresarían a oficina a cambio de beneficios (HubSpot, 2023)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de empresarios colombianos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4892040"/>
            <a:ext cx="8979408" cy="246888"/>
          </a:xfrm>
          <a:prstGeom prst="rect">
            <a:avLst/>
          </a:prstGeom>
          <a:solidFill>
            <a:srgbClr val="EE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Modalidades de Trabajo en Colombia · 2020–2025  |  Fuentes: MinTIC, DANE, Mintrabajo, ANDI, EY, Impacto TIC</a:t>
            </a:r>
            <a:endParaRPr lang="en-US" sz="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0" y="914400"/>
          <a:ext cx="4389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960120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39,8 % de empresas no estaba seguro de mantener el remoto post-pandemia (ANDI, 2021).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10 % de empresas colombianas tenía planes concretos de teletrabajo en 2023, por detrás de México y Chile.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94 % de colaboradores no realizaba trabajo remoto a finales de 2023 (sectores de alta presencialidad).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grande, minería y agroindustria alcanzaron 100 % de retorno presencial en 2022.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admin. y financieras duplicaron teletrabajo: de 44 % (2018) a 80 % (2020), para luego reducirse.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 de empresas está diseñando esquemas flexibles o híbridos para retener talento (KPMG, 2024).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público: adopción y percepción institucional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4892040"/>
            <a:ext cx="8979408" cy="246888"/>
          </a:xfrm>
          <a:prstGeom prst="rect">
            <a:avLst/>
          </a:prstGeom>
          <a:solidFill>
            <a:srgbClr val="EE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Modalidades de Trabajo en Colombia · 2020–2025  |  Fuentes: MinTIC, DANE, Mintrabajo, ANDI, EY, Impacto TIC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en casa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502920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188720"/>
            <a:ext cx="2665476" cy="38404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08676" y="1188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1762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Teletrabaja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194560"/>
            <a:ext cx="502920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2194560"/>
            <a:ext cx="2061972" cy="38404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5172" y="21945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31821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remoto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3200400"/>
            <a:ext cx="502920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3200400"/>
            <a:ext cx="301752" cy="384048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3200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modalidades en entidades públicas — MinTIC Estudio Percepción 2021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320040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MinTIC lanzó el portal teletrabajo.gov.co y ofrece asesorías gratuitas a entidades.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Resolución 2007 de 2024 reglamentó el teletrabajo para servidores del Ministerio de Trabajo.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DAFP y el MinTIC emitieron guías metodológicas para implementar el teletrabajo en entidades públicas.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público fue pionero: 53 % de empleados en trabajo en casa durante la emergencia sanitaria.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6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377440" y="1371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brechas, retos y tendencias 2025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integral: modalidades de trabajo 2020–2025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4892040"/>
            <a:ext cx="8979408" cy="246888"/>
          </a:xfrm>
          <a:prstGeom prst="rect">
            <a:avLst/>
          </a:prstGeom>
          <a:solidFill>
            <a:srgbClr val="EE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Modalidades de Trabajo en Colombia · 2020–2025  |  Fuentes: MinTIC, DANE, Mintrabajo, ANDI, EY, Impacto TIC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14400"/>
            <a:ext cx="4251960" cy="384048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96012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4069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siendo dominante: 82 % del mercado laboral (2023–2024).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minería, agro y manufactura retornaron 100 %.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83 % de trabajadores reconoce que mejora cultura y creatividad.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14400"/>
            <a:ext cx="4251960" cy="38404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96012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CASA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4069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temporal (Ley 2088/2021) — máx. 6 meses.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Pico: 43 % empresas en 2020. Drástica caída en 2022.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Permitió continuidad operativa en la emergencia sanitaria.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880360"/>
            <a:ext cx="4251960" cy="384048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9260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TELETRABAJO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3337560"/>
            <a:ext cx="4069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1221/2008 — modalidad formal más consolidada.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31.500 (2012) a ~252.000 teletrabajadores (2023*). +565 %.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autónomo: 75 % de los teletrabajadores formales.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880360"/>
            <a:ext cx="4251960" cy="38404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92608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REMOTO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337560"/>
            <a:ext cx="406908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2121/2021 — contrato 100 % digital, sin presencialidad.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6 % de encuestados en Colombia (DANE Pulso Social, 2023).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uso en sector tech y empresas de servicios digitales.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identificadas y retos estructurales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4892040"/>
            <a:ext cx="8979408" cy="246888"/>
          </a:xfrm>
          <a:prstGeom prst="rect">
            <a:avLst/>
          </a:prstGeom>
          <a:solidFill>
            <a:srgbClr val="EEF4F9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Modalidades de Trabajo en Colombia · 2020–2025  |  Fuentes: MinTIC, DANE, Mintrabajo, ANDI, EY, Impacto TIC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1005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digital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38988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informalidad (55,9 % ASIS 2024) limita acceso a TIC. Zonas rurales con conectividad insuficiente no pueden adoptar modalidades remotas.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24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10058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Fragmentación normativa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0" y="138988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Coexistencia de 3 regímenes (Ley 1221, 2088, 2121) genera confusión. Empleadores y trabajadores no siempre distinguen sus obligaciones y derechos.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24028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5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productividad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271576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70 % de regresiones a presencialidad se motiva en necesidad de control gerencial. Falta cultura de gestión por resultados.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35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⚕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03520" y="2331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mental y bienestar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54880" y="271576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y sobrecarga en trabajo en casa evidenciaron riesgos psicosociales no regulados suficientemente.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56616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8680" y="3657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datos 2024–2025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0040" y="404164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estudio oficial actualizado de penetración (el último completo es MinTIC 2022). Vacío de información para la toma de decisiones.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356616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675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03520" y="3657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Tendencia: modelo híbrido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0" y="404164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híbrido emerge como solución de consenso: 59 % trabajadores, 63 % empresas (2025). Reto: estandarizar su regulación y garantías.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E4A118"/>
          </a:solidFill>
          <a:ln w="12700">
            <a:solidFill>
              <a:srgbClr val="E4A1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Colombia avanzó sustancialmente en el marco normativo (2020–2024), pasando de 1 a 4 modalidades formales reguladas.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El teletrabajo creció +565 % entre 2012 y 2023, pero su penetración real sigue siendo baja frente al empleo total.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 pandemia aceleró la adopción masiva pero el retorno a la presencialidad fue dominante en 2022–2023.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El modelo híbrido es el nuevo estándar percibido: preferido por el 59–63 % de trabajadores y empresas en 2025.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Reto urgente: actualizar estudios oficiales, reducir fragmentación normativa y cerrar brechas digitales.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AE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Recomendación: unificar y simplificar el régimen no presencial en un único estatuto del trabajo flexible.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Modalidades de Trabajo Colombia 2020-2025</dc:title>
  <dc:subject>PptxGenJS Presentation</dc:subject>
  <dc:creator>Diagnóstico Institucional</dc:creator>
  <cp:lastModifiedBy>Diagnóstico Institucional</cp:lastModifiedBy>
  <cp:revision>1</cp:revision>
  <dcterms:created xsi:type="dcterms:W3CDTF">2026-05-13T23:59:41Z</dcterms:created>
  <dcterms:modified xsi:type="dcterms:W3CDTF">2026-05-13T23:59:41Z</dcterms:modified>
</cp:coreProperties>
</file>